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Average"/>
      <p:regular r:id="rId11"/>
    </p:embeddedFont>
    <p:embeddedFont>
      <p:font typeface="Oswald"/>
      <p:regular r:id="rId12"/>
      <p:bold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Average-regular.fntdata"/><Relationship Id="rId10" Type="http://schemas.openxmlformats.org/officeDocument/2006/relationships/slide" Target="slides/slide5.xml"/><Relationship Id="rId13" Type="http://schemas.openxmlformats.org/officeDocument/2006/relationships/font" Target="fonts/Oswald-bold.fntdata"/><Relationship Id="rId12" Type="http://schemas.openxmlformats.org/officeDocument/2006/relationships/font" Target="fonts/Oswa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6c9a67bd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c6c9a67bd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c6c9a67bd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c6c9a67bd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c6c9a67bd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c6c9a67bd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6c9a67bd2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6c9a67bd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Momentum Prediction Strategy</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Ryan Challman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Thesis</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Momentum, in specific MA, strategies tend to lag before they purchase equities</a:t>
            </a:r>
            <a:endParaRPr/>
          </a:p>
          <a:p>
            <a:pPr indent="-342900" lvl="0" marL="457200" rtl="0" algn="l">
              <a:spcBef>
                <a:spcPts val="0"/>
              </a:spcBef>
              <a:spcAft>
                <a:spcPts val="0"/>
              </a:spcAft>
              <a:buSzPts val="1800"/>
              <a:buChar char="●"/>
            </a:pPr>
            <a:r>
              <a:rPr lang="en"/>
              <a:t>Primarily, because they have to wait for the market price to increase for momentum to begin</a:t>
            </a:r>
            <a:endParaRPr/>
          </a:p>
          <a:p>
            <a:pPr indent="-342900" lvl="0" marL="457200" rtl="0" algn="l">
              <a:spcBef>
                <a:spcPts val="0"/>
              </a:spcBef>
              <a:spcAft>
                <a:spcPts val="0"/>
              </a:spcAft>
              <a:buSzPts val="1800"/>
              <a:buChar char="●"/>
            </a:pPr>
            <a:r>
              <a:rPr lang="en"/>
              <a:t>Solution: Use the second derivative of moving averages to create a buy or sell signal </a:t>
            </a:r>
            <a:endParaRPr/>
          </a:p>
          <a:p>
            <a:pPr indent="0" lvl="0" marL="0" rtl="0" algn="l">
              <a:spcBef>
                <a:spcPts val="1200"/>
              </a:spcBef>
              <a:spcAft>
                <a:spcPts val="1200"/>
              </a:spcAft>
              <a:buNone/>
            </a:pPr>
            <a:r>
              <a:t/>
            </a:r>
            <a:endParaRPr/>
          </a:p>
        </p:txBody>
      </p:sp>
      <p:pic>
        <p:nvPicPr>
          <p:cNvPr id="67" name="Google Shape;67;p14"/>
          <p:cNvPicPr preferRelativeResize="0"/>
          <p:nvPr/>
        </p:nvPicPr>
        <p:blipFill>
          <a:blip r:embed="rId3">
            <a:alphaModFix/>
          </a:blip>
          <a:stretch>
            <a:fillRect/>
          </a:stretch>
        </p:blipFill>
        <p:spPr>
          <a:xfrm>
            <a:off x="4693375" y="2571750"/>
            <a:ext cx="4219575" cy="2438400"/>
          </a:xfrm>
          <a:prstGeom prst="rect">
            <a:avLst/>
          </a:prstGeom>
          <a:noFill/>
          <a:ln>
            <a:noFill/>
          </a:ln>
        </p:spPr>
      </p:pic>
      <p:sp>
        <p:nvSpPr>
          <p:cNvPr id="68" name="Google Shape;68;p14"/>
          <p:cNvSpPr txBox="1"/>
          <p:nvPr/>
        </p:nvSpPr>
        <p:spPr>
          <a:xfrm>
            <a:off x="280500" y="2999200"/>
            <a:ext cx="4413000" cy="1569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Average"/>
              <a:buChar char="●"/>
            </a:pPr>
            <a:r>
              <a:rPr lang="en" sz="1800">
                <a:solidFill>
                  <a:schemeClr val="accent3"/>
                </a:solidFill>
                <a:latin typeface="Average"/>
                <a:ea typeface="Average"/>
                <a:cs typeface="Average"/>
                <a:sym typeface="Average"/>
              </a:rPr>
              <a:t>Additionally, filter by </a:t>
            </a:r>
            <a:r>
              <a:rPr lang="en" sz="1800">
                <a:solidFill>
                  <a:schemeClr val="accent3"/>
                </a:solidFill>
                <a:latin typeface="Average"/>
                <a:ea typeface="Average"/>
                <a:cs typeface="Average"/>
                <a:sym typeface="Average"/>
              </a:rPr>
              <a:t>volatility where low levels of recent volatility allows us to go long, vice versa for short</a:t>
            </a:r>
            <a:endParaRPr sz="1800">
              <a:solidFill>
                <a:schemeClr val="accent3"/>
              </a:solidFill>
              <a:latin typeface="Average"/>
              <a:ea typeface="Average"/>
              <a:cs typeface="Average"/>
              <a:sym typeface="Averag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Choosing Parameter/In-Sample Testing</a:t>
            </a:r>
            <a:endParaRPr/>
          </a:p>
        </p:txBody>
      </p:sp>
      <p:sp>
        <p:nvSpPr>
          <p:cNvPr id="74" name="Google Shape;74;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Create a heatmap and adjust 2 parameter MA_Window and derivative_window</a:t>
            </a:r>
            <a:endParaRPr/>
          </a:p>
          <a:p>
            <a:pPr indent="-342900" lvl="0" marL="457200" rtl="0" algn="l">
              <a:spcBef>
                <a:spcPts val="0"/>
              </a:spcBef>
              <a:spcAft>
                <a:spcPts val="0"/>
              </a:spcAft>
              <a:buSzPts val="1800"/>
              <a:buChar char="●"/>
            </a:pPr>
            <a:r>
              <a:rPr lang="en"/>
              <a:t>Have our target be cumulative returns</a:t>
            </a:r>
            <a:endParaRPr/>
          </a:p>
          <a:p>
            <a:pPr indent="-342900" lvl="0" marL="457200" rtl="0" algn="l">
              <a:spcBef>
                <a:spcPts val="0"/>
              </a:spcBef>
              <a:spcAft>
                <a:spcPts val="0"/>
              </a:spcAft>
              <a:buSzPts val="1800"/>
              <a:buChar char="●"/>
            </a:pPr>
            <a:r>
              <a:rPr lang="en"/>
              <a:t>Baseline will be QQQ from 2020-2023</a:t>
            </a:r>
            <a:endParaRPr/>
          </a:p>
          <a:p>
            <a:pPr indent="0" lvl="0" marL="457200" rtl="0" algn="l">
              <a:spcBef>
                <a:spcPts val="1200"/>
              </a:spcBef>
              <a:spcAft>
                <a:spcPts val="1200"/>
              </a:spcAft>
              <a:buNone/>
            </a:pPr>
            <a:r>
              <a:t/>
            </a:r>
            <a:endParaRPr/>
          </a:p>
        </p:txBody>
      </p:sp>
      <p:pic>
        <p:nvPicPr>
          <p:cNvPr id="75" name="Google Shape;75;p15"/>
          <p:cNvPicPr preferRelativeResize="0"/>
          <p:nvPr/>
        </p:nvPicPr>
        <p:blipFill>
          <a:blip r:embed="rId3">
            <a:alphaModFix/>
          </a:blip>
          <a:stretch>
            <a:fillRect/>
          </a:stretch>
        </p:blipFill>
        <p:spPr>
          <a:xfrm>
            <a:off x="767624" y="2212250"/>
            <a:ext cx="3804376" cy="2813801"/>
          </a:xfrm>
          <a:prstGeom prst="rect">
            <a:avLst/>
          </a:prstGeom>
          <a:noFill/>
          <a:ln>
            <a:noFill/>
          </a:ln>
        </p:spPr>
      </p:pic>
      <p:pic>
        <p:nvPicPr>
          <p:cNvPr id="76" name="Google Shape;76;p15"/>
          <p:cNvPicPr preferRelativeResize="0"/>
          <p:nvPr/>
        </p:nvPicPr>
        <p:blipFill>
          <a:blip r:embed="rId4">
            <a:alphaModFix/>
          </a:blip>
          <a:stretch>
            <a:fillRect/>
          </a:stretch>
        </p:blipFill>
        <p:spPr>
          <a:xfrm>
            <a:off x="5458255" y="2129800"/>
            <a:ext cx="3209270" cy="2813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 of Sample </a:t>
            </a:r>
            <a:r>
              <a:rPr lang="en"/>
              <a:t>Performance</a:t>
            </a:r>
            <a:endParaRPr/>
          </a:p>
        </p:txBody>
      </p:sp>
      <p:sp>
        <p:nvSpPr>
          <p:cNvPr id="82" name="Google Shape;8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Maintain the same parameters from out of sample testinging</a:t>
            </a:r>
            <a:endParaRPr/>
          </a:p>
          <a:p>
            <a:pPr indent="-342900" lvl="0" marL="457200" rtl="0" algn="l">
              <a:spcBef>
                <a:spcPts val="0"/>
              </a:spcBef>
              <a:spcAft>
                <a:spcPts val="0"/>
              </a:spcAft>
              <a:buSzPts val="1800"/>
              <a:buChar char="●"/>
            </a:pPr>
            <a:r>
              <a:rPr lang="en"/>
              <a:t>Test </a:t>
            </a:r>
            <a:r>
              <a:rPr lang="en"/>
              <a:t>performance</a:t>
            </a:r>
            <a:r>
              <a:rPr lang="en"/>
              <a:t> of strategy from 2022 to 2026</a:t>
            </a:r>
            <a:endParaRPr/>
          </a:p>
          <a:p>
            <a:pPr indent="457200" lvl="0" marL="914400" rtl="0" algn="l">
              <a:spcBef>
                <a:spcPts val="1200"/>
              </a:spcBef>
              <a:spcAft>
                <a:spcPts val="0"/>
              </a:spcAft>
              <a:buNone/>
            </a:pPr>
            <a:r>
              <a:rPr lang="en"/>
              <a:t>Strategy/QQQ</a:t>
            </a:r>
            <a:endParaRPr/>
          </a:p>
          <a:p>
            <a:pPr indent="-342900" lvl="0" marL="457200" rtl="0" algn="l">
              <a:spcBef>
                <a:spcPts val="1200"/>
              </a:spcBef>
              <a:spcAft>
                <a:spcPts val="0"/>
              </a:spcAft>
              <a:buSzPts val="1800"/>
              <a:buChar char="●"/>
            </a:pPr>
            <a:r>
              <a:rPr lang="en"/>
              <a:t> 18.16% returns/63.67% returns</a:t>
            </a:r>
            <a:endParaRPr/>
          </a:p>
          <a:p>
            <a:pPr indent="-342900" lvl="0" marL="457200" rtl="0" algn="l">
              <a:spcBef>
                <a:spcPts val="0"/>
              </a:spcBef>
              <a:spcAft>
                <a:spcPts val="0"/>
              </a:spcAft>
              <a:buSzPts val="1800"/>
              <a:buChar char="●"/>
            </a:pPr>
            <a:r>
              <a:rPr lang="en"/>
              <a:t>.28 Sharpe Ratio/.88 Sharpe</a:t>
            </a:r>
            <a:endParaRPr/>
          </a:p>
          <a:p>
            <a:pPr indent="-342900" lvl="0" marL="457200" rtl="0" algn="l">
              <a:spcBef>
                <a:spcPts val="0"/>
              </a:spcBef>
              <a:spcAft>
                <a:spcPts val="0"/>
              </a:spcAft>
              <a:buSzPts val="1800"/>
              <a:buChar char="●"/>
            </a:pPr>
            <a:r>
              <a:rPr lang="en"/>
              <a:t>.29 Sortino Ratio/1.17 Sortino</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83" name="Google Shape;83;p16"/>
          <p:cNvPicPr preferRelativeResize="0"/>
          <p:nvPr/>
        </p:nvPicPr>
        <p:blipFill>
          <a:blip r:embed="rId3">
            <a:alphaModFix/>
          </a:blip>
          <a:stretch>
            <a:fillRect/>
          </a:stretch>
        </p:blipFill>
        <p:spPr>
          <a:xfrm>
            <a:off x="4400601" y="1895350"/>
            <a:ext cx="4153476" cy="3072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89" name="Google Shape;8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While there was some reasoning behind why the idea should work any market is far too complex to have any real edge while using strictly technical indicators. For the future it could be useful to narrow in on individual companies and look at how the sentiment of either the individual company is looking or their industry as a whole. While for the model adding in transaction cost and looking at shorter time frames where prices aren’t as driven by actual business </a:t>
            </a:r>
            <a:r>
              <a:rPr lang="en"/>
              <a:t>fundamentals</a:t>
            </a:r>
            <a:r>
              <a:rPr lang="en"/>
              <a:t> could have better results.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